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2"/>
  </p:notesMasterIdLst>
  <p:handoutMasterIdLst>
    <p:handoutMasterId r:id="rId53"/>
  </p:handoutMasterIdLst>
  <p:sldIdLst>
    <p:sldId id="327" r:id="rId5"/>
    <p:sldId id="330" r:id="rId6"/>
    <p:sldId id="331" r:id="rId7"/>
    <p:sldId id="332" r:id="rId8"/>
    <p:sldId id="298" r:id="rId9"/>
    <p:sldId id="262" r:id="rId10"/>
    <p:sldId id="263" r:id="rId11"/>
    <p:sldId id="299" r:id="rId12"/>
    <p:sldId id="302" r:id="rId13"/>
    <p:sldId id="264" r:id="rId14"/>
    <p:sldId id="266" r:id="rId15"/>
    <p:sldId id="265" r:id="rId16"/>
    <p:sldId id="276" r:id="rId17"/>
    <p:sldId id="303" r:id="rId18"/>
    <p:sldId id="293" r:id="rId19"/>
    <p:sldId id="277" r:id="rId20"/>
    <p:sldId id="284" r:id="rId21"/>
    <p:sldId id="269" r:id="rId22"/>
    <p:sldId id="304" r:id="rId23"/>
    <p:sldId id="305" r:id="rId24"/>
    <p:sldId id="307" r:id="rId25"/>
    <p:sldId id="306" r:id="rId26"/>
    <p:sldId id="308" r:id="rId27"/>
    <p:sldId id="270" r:id="rId28"/>
    <p:sldId id="309" r:id="rId29"/>
    <p:sldId id="310" r:id="rId30"/>
    <p:sldId id="311" r:id="rId31"/>
    <p:sldId id="312" r:id="rId32"/>
    <p:sldId id="314" r:id="rId33"/>
    <p:sldId id="313" r:id="rId34"/>
    <p:sldId id="315" r:id="rId35"/>
    <p:sldId id="316" r:id="rId36"/>
    <p:sldId id="317" r:id="rId37"/>
    <p:sldId id="294" r:id="rId38"/>
    <p:sldId id="296" r:id="rId39"/>
    <p:sldId id="318" r:id="rId40"/>
    <p:sldId id="319" r:id="rId41"/>
    <p:sldId id="321" r:id="rId42"/>
    <p:sldId id="322" r:id="rId43"/>
    <p:sldId id="323" r:id="rId44"/>
    <p:sldId id="324" r:id="rId45"/>
    <p:sldId id="288" r:id="rId46"/>
    <p:sldId id="289" r:id="rId47"/>
    <p:sldId id="320" r:id="rId48"/>
    <p:sldId id="274" r:id="rId49"/>
    <p:sldId id="275" r:id="rId50"/>
    <p:sldId id="329" r:id="rId51"/>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p:scale>
          <a:sx n="66" d="100"/>
          <a:sy n="66" d="100"/>
        </p:scale>
        <p:origin x="2340" y="6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6/15/2026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46</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6/15/2026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mhrjn/IBM_Data_Science_Capstone/blob/main/jupyter-labs-spacex-data-collection-api-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mhrjn/IBM_Data_Science_Capstone/blob/main/jupyter-labs-webscrap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mhrjn/IBM_Data_Science_Capstone/blob/main/labs-jupyter-spacex-Data%20wrangling-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mhrjn/IBM_Data_Science_Capstone/blob/main/jupyter-labs-eda-dataviz-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mhrjn/IBM_Data_Science_Capstone/blob/main/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mhrjn/IBM_Data_Science_Capstone/blob/main/lab-jupyter-launch-site-location-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mhrjn/IBM_Data_Science_Capstone/blob/main/spacex-dash-app.py"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mhrjn/IBM_Data_Science_Capstone/blob/main/SpaceX-Machine-Learning-Prediction-Part-5-v1.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Sarat Maharjan</a:t>
            </a:r>
          </a:p>
          <a:p>
            <a:r>
              <a:rPr lang="en-US" dirty="0">
                <a:solidFill>
                  <a:schemeClr val="bg2"/>
                </a:solidFill>
                <a:latin typeface="Abadi" panose="020B0604020104020204" pitchFamily="34" charset="0"/>
                <a:ea typeface="SF Pro" pitchFamily="2" charset="0"/>
                <a:cs typeface="SF Pro" pitchFamily="2" charset="0"/>
              </a:rPr>
              <a:t>2026.06.15</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
        <p:nvSpPr>
          <p:cNvPr id="2" name="TextBox 1">
            <a:extLst>
              <a:ext uri="{FF2B5EF4-FFF2-40B4-BE49-F238E27FC236}">
                <a16:creationId xmlns:a16="http://schemas.microsoft.com/office/drawing/2014/main" id="{3F5112F5-77E7-B3CC-5946-2BFB444B4D37}"/>
              </a:ext>
            </a:extLst>
          </p:cNvPr>
          <p:cNvSpPr txBox="1"/>
          <p:nvPr/>
        </p:nvSpPr>
        <p:spPr>
          <a:xfrm>
            <a:off x="1117600" y="1625600"/>
            <a:ext cx="9824720" cy="1754326"/>
          </a:xfrm>
          <a:prstGeom prst="rect">
            <a:avLst/>
          </a:prstGeom>
          <a:noFill/>
        </p:spPr>
        <p:txBody>
          <a:bodyPr wrap="square" rtlCol="0">
            <a:spAutoFit/>
          </a:bodyPr>
          <a:lstStyle/>
          <a:p>
            <a:r>
              <a:rPr lang="en-US" dirty="0"/>
              <a:t>The data is collected through SpaceX Api and Web Scraping. Data Wrangling and Exploratory Analysis are performed on the collected data by using appropriate python modules and SQL. The data visualizations are used to further understand data. Both EDA and Visual Analytics using Folium and Interactive dashboards with Plotly Dash are use. At last different ML Algorithms are investigated to decide best model for future predictions.</a:t>
            </a:r>
          </a:p>
          <a:p>
            <a:r>
              <a:rPr lang="en-US" dirty="0"/>
              <a:t> </a:t>
            </a:r>
            <a:endParaRPr lang="en-GB" dirty="0"/>
          </a:p>
        </p:txBody>
      </p:sp>
      <p:sp>
        <p:nvSpPr>
          <p:cNvPr id="3" name="TextBox 2">
            <a:extLst>
              <a:ext uri="{FF2B5EF4-FFF2-40B4-BE49-F238E27FC236}">
                <a16:creationId xmlns:a16="http://schemas.microsoft.com/office/drawing/2014/main" id="{AEF734C8-4314-ABAA-F5B0-91B581678407}"/>
              </a:ext>
            </a:extLst>
          </p:cNvPr>
          <p:cNvSpPr txBox="1"/>
          <p:nvPr/>
        </p:nvSpPr>
        <p:spPr>
          <a:xfrm>
            <a:off x="1117600" y="3917827"/>
            <a:ext cx="9824720" cy="646331"/>
          </a:xfrm>
          <a:prstGeom prst="rect">
            <a:avLst/>
          </a:prstGeom>
          <a:noFill/>
        </p:spPr>
        <p:txBody>
          <a:bodyPr wrap="square" rtlCol="0">
            <a:spAutoFit/>
          </a:bodyPr>
          <a:lstStyle/>
          <a:p>
            <a:r>
              <a:rPr lang="en-US" dirty="0"/>
              <a:t>EDA on collected and cleaned data indicate increased success rate over time. </a:t>
            </a:r>
          </a:p>
          <a:p>
            <a:r>
              <a:rPr lang="en-US" dirty="0"/>
              <a:t> </a:t>
            </a:r>
            <a:endParaRPr lang="en-GB" dirty="0"/>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2" name="TextBox 1">
            <a:extLst>
              <a:ext uri="{FF2B5EF4-FFF2-40B4-BE49-F238E27FC236}">
                <a16:creationId xmlns:a16="http://schemas.microsoft.com/office/drawing/2014/main" id="{AD914C4B-ABD4-4F2A-AAF1-22F164B0D3F9}"/>
              </a:ext>
            </a:extLst>
          </p:cNvPr>
          <p:cNvSpPr txBox="1"/>
          <p:nvPr/>
        </p:nvSpPr>
        <p:spPr>
          <a:xfrm>
            <a:off x="828069" y="1481385"/>
            <a:ext cx="9433531" cy="2308324"/>
          </a:xfrm>
          <a:prstGeom prst="rect">
            <a:avLst/>
          </a:prstGeom>
          <a:noFill/>
        </p:spPr>
        <p:txBody>
          <a:bodyPr wrap="square" rtlCol="0">
            <a:spAutoFit/>
          </a:bodyPr>
          <a:lstStyle/>
          <a:p>
            <a:r>
              <a:rPr lang="en-US" dirty="0"/>
              <a:t>The next big thing in science and technology is space exploration. One of the leading company in this field is SpaceX. They claim the cost of Falcon 9 rocket to be 62 million dollars compared to 165-million-dollar cost for the rivals.</a:t>
            </a:r>
          </a:p>
          <a:p>
            <a:endParaRPr lang="en-US" dirty="0"/>
          </a:p>
          <a:p>
            <a:r>
              <a:rPr lang="en-US" dirty="0"/>
              <a:t>The objective of this research is to investigate the success probability of landing of the first stage. For our company </a:t>
            </a:r>
            <a:r>
              <a:rPr lang="en-US" dirty="0" err="1"/>
              <a:t>SpaceY</a:t>
            </a:r>
            <a:r>
              <a:rPr lang="en-US" dirty="0"/>
              <a:t> to compete with SpaceX, we need to perform better than SpaceX. Therefore, determining success rate and hence cost for SpaceX is critical.</a:t>
            </a:r>
            <a:endParaRPr lang="en-GB" dirty="0"/>
          </a:p>
          <a:p>
            <a:endParaRPr lang="en-GB" dirty="0"/>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436469" cy="521187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6400" b="1" dirty="0">
                <a:solidFill>
                  <a:schemeClr val="accent3">
                    <a:lumMod val="25000"/>
                  </a:schemeClr>
                </a:solidFill>
                <a:latin typeface="Abadi"/>
              </a:rPr>
              <a:t>Data collection methodology:</a:t>
            </a:r>
          </a:p>
          <a:p>
            <a:pPr lvl="1">
              <a:lnSpc>
                <a:spcPct val="120000"/>
              </a:lnSpc>
              <a:spcBef>
                <a:spcPts val="1400"/>
              </a:spcBef>
            </a:pPr>
            <a:r>
              <a:rPr lang="en-US" sz="6400" dirty="0">
                <a:solidFill>
                  <a:schemeClr val="accent3">
                    <a:lumMod val="25000"/>
                  </a:schemeClr>
                </a:solidFill>
                <a:latin typeface="Abadi"/>
              </a:rPr>
              <a:t>Retrieve data from SpaceX Api and Web Scraping</a:t>
            </a:r>
          </a:p>
          <a:p>
            <a:pPr>
              <a:lnSpc>
                <a:spcPct val="120000"/>
              </a:lnSpc>
              <a:spcBef>
                <a:spcPts val="1400"/>
              </a:spcBef>
            </a:pPr>
            <a:r>
              <a:rPr lang="en-US" sz="6400" b="1" dirty="0">
                <a:solidFill>
                  <a:schemeClr val="accent3">
                    <a:lumMod val="25000"/>
                  </a:schemeClr>
                </a:solidFill>
                <a:latin typeface="Abadi"/>
              </a:rPr>
              <a:t>Perform data wrangling</a:t>
            </a:r>
          </a:p>
          <a:p>
            <a:pPr lvl="1">
              <a:lnSpc>
                <a:spcPct val="120000"/>
              </a:lnSpc>
              <a:spcBef>
                <a:spcPts val="1400"/>
              </a:spcBef>
            </a:pPr>
            <a:r>
              <a:rPr lang="en-US" sz="6400" dirty="0">
                <a:solidFill>
                  <a:schemeClr val="tx1"/>
                </a:solidFill>
                <a:latin typeface="Abadi"/>
              </a:rPr>
              <a:t>Clean data for missing and incorrect data. Transform categorical data to numerical if necessary.</a:t>
            </a:r>
          </a:p>
          <a:p>
            <a:pPr>
              <a:lnSpc>
                <a:spcPct val="120000"/>
              </a:lnSpc>
              <a:spcBef>
                <a:spcPts val="1400"/>
              </a:spcBef>
            </a:pPr>
            <a:r>
              <a:rPr lang="en-US" sz="6400" b="1" dirty="0">
                <a:solidFill>
                  <a:schemeClr val="tx1"/>
                </a:solidFill>
                <a:latin typeface="Abadi"/>
              </a:rPr>
              <a:t>Perform exploratory </a:t>
            </a:r>
            <a:r>
              <a:rPr lang="en-US" sz="6400" b="1" dirty="0">
                <a:solidFill>
                  <a:schemeClr val="accent3">
                    <a:lumMod val="25000"/>
                  </a:schemeClr>
                </a:solidFill>
                <a:latin typeface="Abadi"/>
              </a:rPr>
              <a:t>data analysis (EDA) using visualization and SQL</a:t>
            </a:r>
          </a:p>
          <a:p>
            <a:pPr lvl="1">
              <a:lnSpc>
                <a:spcPct val="120000"/>
              </a:lnSpc>
              <a:spcBef>
                <a:spcPts val="1400"/>
              </a:spcBef>
            </a:pPr>
            <a:r>
              <a:rPr lang="en-US" sz="6400" dirty="0">
                <a:solidFill>
                  <a:schemeClr val="accent3">
                    <a:lumMod val="25000"/>
                  </a:schemeClr>
                </a:solidFill>
                <a:latin typeface="Abadi"/>
              </a:rPr>
              <a:t>Calculate statistical properties for the collected data by using python modules and SQL. Gather better insights from the visualizations.</a:t>
            </a:r>
          </a:p>
          <a:p>
            <a:pPr>
              <a:lnSpc>
                <a:spcPct val="120000"/>
              </a:lnSpc>
              <a:spcBef>
                <a:spcPts val="1400"/>
              </a:spcBef>
            </a:pPr>
            <a:r>
              <a:rPr lang="en-US" sz="6400" b="1" dirty="0">
                <a:solidFill>
                  <a:schemeClr val="accent3">
                    <a:lumMod val="25000"/>
                  </a:schemeClr>
                </a:solidFill>
                <a:latin typeface="Abadi"/>
              </a:rPr>
              <a:t>Perform interactive visual analytics using Folium and Plotly Dash</a:t>
            </a:r>
          </a:p>
          <a:p>
            <a:pPr lvl="1">
              <a:lnSpc>
                <a:spcPct val="120000"/>
              </a:lnSpc>
              <a:spcBef>
                <a:spcPts val="1400"/>
              </a:spcBef>
            </a:pPr>
            <a:r>
              <a:rPr lang="en-US" sz="6400" dirty="0">
                <a:solidFill>
                  <a:schemeClr val="accent3">
                    <a:lumMod val="25000"/>
                  </a:schemeClr>
                </a:solidFill>
                <a:latin typeface="Abadi"/>
              </a:rPr>
              <a:t>Gather information about Launch site, geographical factors, vicinity and effect on success rate.</a:t>
            </a:r>
          </a:p>
          <a:p>
            <a:pPr>
              <a:lnSpc>
                <a:spcPct val="120000"/>
              </a:lnSpc>
              <a:spcBef>
                <a:spcPts val="1400"/>
              </a:spcBef>
            </a:pPr>
            <a:r>
              <a:rPr lang="en-US" sz="6400" b="1" dirty="0">
                <a:solidFill>
                  <a:schemeClr val="accent3">
                    <a:lumMod val="25000"/>
                  </a:schemeClr>
                </a:solidFill>
                <a:latin typeface="Abadi"/>
              </a:rPr>
              <a:t>Perform predictive analysis using classification models</a:t>
            </a:r>
          </a:p>
          <a:p>
            <a:pPr lvl="1">
              <a:lnSpc>
                <a:spcPct val="120000"/>
              </a:lnSpc>
              <a:spcBef>
                <a:spcPts val="1400"/>
              </a:spcBef>
            </a:pPr>
            <a:r>
              <a:rPr lang="en-US" sz="6400" dirty="0">
                <a:solidFill>
                  <a:schemeClr val="accent3">
                    <a:lumMod val="25000"/>
                  </a:schemeClr>
                </a:solidFill>
                <a:latin typeface="Abadi"/>
              </a:rPr>
              <a:t>Investigate various predictive models with optimal parameters and select best one for the future predictions.</a:t>
            </a:r>
          </a:p>
          <a:p>
            <a:pPr lvl="1">
              <a:lnSpc>
                <a:spcPct val="120000"/>
              </a:lnSpc>
              <a:spcBef>
                <a:spcPts val="1400"/>
              </a:spcBef>
            </a:pPr>
            <a:endParaRPr lang="en-US" sz="84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
        <p:nvSpPr>
          <p:cNvPr id="2" name="TextBox 1">
            <a:extLst>
              <a:ext uri="{FF2B5EF4-FFF2-40B4-BE49-F238E27FC236}">
                <a16:creationId xmlns:a16="http://schemas.microsoft.com/office/drawing/2014/main" id="{0490EEE2-CB50-B7FD-D73E-E2DFAE863FCD}"/>
              </a:ext>
            </a:extLst>
          </p:cNvPr>
          <p:cNvSpPr txBox="1"/>
          <p:nvPr/>
        </p:nvSpPr>
        <p:spPr>
          <a:xfrm>
            <a:off x="1026160" y="1544320"/>
            <a:ext cx="7325360" cy="1477328"/>
          </a:xfrm>
          <a:prstGeom prst="rect">
            <a:avLst/>
          </a:prstGeom>
          <a:noFill/>
        </p:spPr>
        <p:txBody>
          <a:bodyPr wrap="square" rtlCol="0">
            <a:spAutoFit/>
          </a:bodyPr>
          <a:lstStyle/>
          <a:p>
            <a:r>
              <a:rPr lang="en-US" dirty="0"/>
              <a:t>Data was collected by two methods:</a:t>
            </a:r>
          </a:p>
          <a:p>
            <a:pPr marL="285750" indent="-285750">
              <a:buFont typeface="Arial" panose="020B0604020202020204" pitchFamily="34" charset="0"/>
              <a:buChar char="•"/>
            </a:pPr>
            <a:r>
              <a:rPr lang="en-US" dirty="0"/>
              <a:t>SpaceX API</a:t>
            </a:r>
            <a:r>
              <a:rPr lang="en-GB" dirty="0"/>
              <a:t> – past launch data and individual results were obtained from several SpaceX API endpoints.</a:t>
            </a:r>
          </a:p>
          <a:p>
            <a:pPr marL="285750" indent="-285750">
              <a:buFont typeface="Arial" panose="020B0604020202020204" pitchFamily="34" charset="0"/>
              <a:buChar char="•"/>
            </a:pPr>
            <a:r>
              <a:rPr lang="en-GB" dirty="0"/>
              <a:t>Wikipedia – web scraping on wiki page was used to get list of Falcon 9 Launches.</a:t>
            </a:r>
            <a:endParaRPr lang="en-US" dirty="0"/>
          </a:p>
        </p:txBody>
      </p:sp>
      <p:sp>
        <p:nvSpPr>
          <p:cNvPr id="7" name="TextBox 6">
            <a:extLst>
              <a:ext uri="{FF2B5EF4-FFF2-40B4-BE49-F238E27FC236}">
                <a16:creationId xmlns:a16="http://schemas.microsoft.com/office/drawing/2014/main" id="{BB7E0F20-3F09-0A43-CA7D-31A4B493CDB4}"/>
              </a:ext>
            </a:extLst>
          </p:cNvPr>
          <p:cNvSpPr txBox="1"/>
          <p:nvPr/>
        </p:nvSpPr>
        <p:spPr>
          <a:xfrm>
            <a:off x="1026160" y="3925669"/>
            <a:ext cx="143256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Jupyter Notebook</a:t>
            </a:r>
            <a:endParaRPr lang="en-GB" dirty="0"/>
          </a:p>
        </p:txBody>
      </p:sp>
      <p:cxnSp>
        <p:nvCxnSpPr>
          <p:cNvPr id="9" name="Straight Arrow Connector 8">
            <a:extLst>
              <a:ext uri="{FF2B5EF4-FFF2-40B4-BE49-F238E27FC236}">
                <a16:creationId xmlns:a16="http://schemas.microsoft.com/office/drawing/2014/main" id="{CCA6F0B6-4AA5-2B47-011E-14EE0794D230}"/>
              </a:ext>
            </a:extLst>
          </p:cNvPr>
          <p:cNvCxnSpPr>
            <a:cxnSpLocks/>
            <a:stCxn id="7" idx="3"/>
            <a:endCxn id="13" idx="1"/>
          </p:cNvCxnSpPr>
          <p:nvPr/>
        </p:nvCxnSpPr>
        <p:spPr>
          <a:xfrm flipV="1">
            <a:off x="2458720" y="3408064"/>
            <a:ext cx="1747520" cy="840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EF443A5-2499-F594-A5B1-CC5B24803938}"/>
              </a:ext>
            </a:extLst>
          </p:cNvPr>
          <p:cNvCxnSpPr>
            <a:cxnSpLocks/>
            <a:stCxn id="7" idx="3"/>
            <a:endCxn id="14" idx="1"/>
          </p:cNvCxnSpPr>
          <p:nvPr/>
        </p:nvCxnSpPr>
        <p:spPr>
          <a:xfrm>
            <a:off x="2458720" y="4248835"/>
            <a:ext cx="1722120" cy="69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FEA5014-2AAB-0A25-2F15-4F932B11B5C9}"/>
              </a:ext>
            </a:extLst>
          </p:cNvPr>
          <p:cNvSpPr txBox="1"/>
          <p:nvPr/>
        </p:nvSpPr>
        <p:spPr>
          <a:xfrm>
            <a:off x="4206240" y="3223398"/>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SpaceX Api</a:t>
            </a:r>
            <a:endParaRPr lang="en-GB" dirty="0"/>
          </a:p>
        </p:txBody>
      </p:sp>
      <p:sp>
        <p:nvSpPr>
          <p:cNvPr id="14" name="TextBox 13">
            <a:extLst>
              <a:ext uri="{FF2B5EF4-FFF2-40B4-BE49-F238E27FC236}">
                <a16:creationId xmlns:a16="http://schemas.microsoft.com/office/drawing/2014/main" id="{8CAC9E50-07C5-FBC3-650E-0CC274C39DDF}"/>
              </a:ext>
            </a:extLst>
          </p:cNvPr>
          <p:cNvSpPr txBox="1"/>
          <p:nvPr/>
        </p:nvSpPr>
        <p:spPr>
          <a:xfrm>
            <a:off x="4180840" y="4618166"/>
            <a:ext cx="143256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Web Scraping</a:t>
            </a:r>
            <a:endParaRPr lang="en-GB" dirty="0"/>
          </a:p>
        </p:txBody>
      </p:sp>
      <p:cxnSp>
        <p:nvCxnSpPr>
          <p:cNvPr id="15" name="Straight Arrow Connector 14">
            <a:extLst>
              <a:ext uri="{FF2B5EF4-FFF2-40B4-BE49-F238E27FC236}">
                <a16:creationId xmlns:a16="http://schemas.microsoft.com/office/drawing/2014/main" id="{3EBCDE79-EAA7-E6DD-1EDC-727F7E7B09C6}"/>
              </a:ext>
            </a:extLst>
          </p:cNvPr>
          <p:cNvCxnSpPr>
            <a:cxnSpLocks/>
            <a:stCxn id="14" idx="3"/>
            <a:endCxn id="21" idx="1"/>
          </p:cNvCxnSpPr>
          <p:nvPr/>
        </p:nvCxnSpPr>
        <p:spPr>
          <a:xfrm flipV="1">
            <a:off x="5613400" y="4941331"/>
            <a:ext cx="13062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FE1E91-02F2-C952-C42F-9ABA54D76D47}"/>
              </a:ext>
            </a:extLst>
          </p:cNvPr>
          <p:cNvCxnSpPr>
            <a:cxnSpLocks/>
            <a:stCxn id="13" idx="3"/>
            <a:endCxn id="20" idx="1"/>
          </p:cNvCxnSpPr>
          <p:nvPr/>
        </p:nvCxnSpPr>
        <p:spPr>
          <a:xfrm>
            <a:off x="5638800" y="3408064"/>
            <a:ext cx="1280160" cy="20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51C42BC-250A-22D6-E3CF-74D719EF4860}"/>
              </a:ext>
            </a:extLst>
          </p:cNvPr>
          <p:cNvSpPr txBox="1"/>
          <p:nvPr/>
        </p:nvSpPr>
        <p:spPr>
          <a:xfrm>
            <a:off x="6918960" y="3244334"/>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Json Data</a:t>
            </a:r>
            <a:endParaRPr lang="en-GB" dirty="0"/>
          </a:p>
        </p:txBody>
      </p:sp>
      <p:sp>
        <p:nvSpPr>
          <p:cNvPr id="21" name="TextBox 20">
            <a:extLst>
              <a:ext uri="{FF2B5EF4-FFF2-40B4-BE49-F238E27FC236}">
                <a16:creationId xmlns:a16="http://schemas.microsoft.com/office/drawing/2014/main" id="{78326AA6-2673-E4D2-4F41-60072FD3B53D}"/>
              </a:ext>
            </a:extLst>
          </p:cNvPr>
          <p:cNvSpPr txBox="1"/>
          <p:nvPr/>
        </p:nvSpPr>
        <p:spPr>
          <a:xfrm>
            <a:off x="6919686" y="4756665"/>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HTML Page</a:t>
            </a:r>
            <a:endParaRPr lang="en-GB" dirty="0"/>
          </a:p>
        </p:txBody>
      </p:sp>
      <p:cxnSp>
        <p:nvCxnSpPr>
          <p:cNvPr id="22" name="Straight Arrow Connector 21">
            <a:extLst>
              <a:ext uri="{FF2B5EF4-FFF2-40B4-BE49-F238E27FC236}">
                <a16:creationId xmlns:a16="http://schemas.microsoft.com/office/drawing/2014/main" id="{A4C48D8C-752B-B472-61E9-A00901C44CEE}"/>
              </a:ext>
            </a:extLst>
          </p:cNvPr>
          <p:cNvCxnSpPr>
            <a:cxnSpLocks/>
            <a:stCxn id="20" idx="3"/>
            <a:endCxn id="27" idx="1"/>
          </p:cNvCxnSpPr>
          <p:nvPr/>
        </p:nvCxnSpPr>
        <p:spPr>
          <a:xfrm>
            <a:off x="8351520" y="3429000"/>
            <a:ext cx="1381760" cy="830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15E8416-A1A8-4DA5-FB58-6C947116862E}"/>
              </a:ext>
            </a:extLst>
          </p:cNvPr>
          <p:cNvCxnSpPr>
            <a:cxnSpLocks/>
            <a:stCxn id="21" idx="3"/>
            <a:endCxn id="27" idx="1"/>
          </p:cNvCxnSpPr>
          <p:nvPr/>
        </p:nvCxnSpPr>
        <p:spPr>
          <a:xfrm flipV="1">
            <a:off x="8352246" y="4259943"/>
            <a:ext cx="1381034" cy="681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0307AE1-E406-31D1-8C24-C5ADAD7F09AF}"/>
              </a:ext>
            </a:extLst>
          </p:cNvPr>
          <p:cNvSpPr txBox="1"/>
          <p:nvPr/>
        </p:nvSpPr>
        <p:spPr>
          <a:xfrm>
            <a:off x="9733280" y="4075277"/>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err="1"/>
              <a:t>DataFrame</a:t>
            </a:r>
            <a:endParaRPr lang="en-GB" dirty="0"/>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4225925"/>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The </a:t>
            </a:r>
            <a:r>
              <a:rPr lang="en-US" sz="2200" dirty="0" err="1">
                <a:solidFill>
                  <a:schemeClr val="accent3">
                    <a:lumMod val="25000"/>
                  </a:schemeClr>
                </a:solidFill>
                <a:latin typeface="Abadi" panose="020B0604020104020204" pitchFamily="34" charset="0"/>
              </a:rPr>
              <a:t>json</a:t>
            </a:r>
            <a:r>
              <a:rPr lang="en-US" sz="2200" dirty="0">
                <a:solidFill>
                  <a:schemeClr val="accent3">
                    <a:lumMod val="25000"/>
                  </a:schemeClr>
                </a:solidFill>
                <a:latin typeface="Abadi" panose="020B0604020104020204" pitchFamily="34" charset="0"/>
              </a:rPr>
              <a:t> data is obtained from SpaceX Api using request library. The </a:t>
            </a:r>
            <a:r>
              <a:rPr lang="en-US" sz="2200" dirty="0" err="1">
                <a:solidFill>
                  <a:schemeClr val="accent3">
                    <a:lumMod val="25000"/>
                  </a:schemeClr>
                </a:solidFill>
                <a:latin typeface="Abadi" panose="020B0604020104020204" pitchFamily="34" charset="0"/>
              </a:rPr>
              <a:t>json</a:t>
            </a:r>
            <a:r>
              <a:rPr lang="en-US" sz="2200" dirty="0">
                <a:solidFill>
                  <a:schemeClr val="accent3">
                    <a:lumMod val="25000"/>
                  </a:schemeClr>
                </a:solidFill>
                <a:latin typeface="Abadi" panose="020B0604020104020204" pitchFamily="34" charset="0"/>
              </a:rPr>
              <a:t> is normalized and converted to pandas </a:t>
            </a:r>
            <a:r>
              <a:rPr lang="en-US" sz="2200" dirty="0" err="1">
                <a:solidFill>
                  <a:schemeClr val="accent3">
                    <a:lumMod val="25000"/>
                  </a:schemeClr>
                </a:solidFill>
                <a:latin typeface="Abadi" panose="020B0604020104020204" pitchFamily="34" charset="0"/>
              </a:rPr>
              <a:t>Dataframe</a:t>
            </a:r>
            <a:r>
              <a:rPr lang="en-US" sz="2200" dirty="0">
                <a:solidFill>
                  <a:schemeClr val="accent3">
                    <a:lumMod val="25000"/>
                  </a:schemeClr>
                </a:solidFill>
                <a:latin typeface="Abadi" panose="020B0604020104020204" pitchFamily="34" charset="0"/>
              </a:rPr>
              <a:t> for further investigation.</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Github link for the web scraping notebook: </a:t>
            </a:r>
            <a:r>
              <a:rPr lang="en-US" sz="2200" dirty="0">
                <a:solidFill>
                  <a:schemeClr val="accent3">
                    <a:lumMod val="25000"/>
                  </a:schemeClr>
                </a:solidFill>
                <a:latin typeface="Abadi" panose="020B0604020104020204" pitchFamily="34" charset="0"/>
                <a:hlinkClick r:id="rId3"/>
              </a:rPr>
              <a:t>SpaceX API Notebook</a:t>
            </a:r>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
        <p:nvSpPr>
          <p:cNvPr id="2" name="TextBox 1">
            <a:extLst>
              <a:ext uri="{FF2B5EF4-FFF2-40B4-BE49-F238E27FC236}">
                <a16:creationId xmlns:a16="http://schemas.microsoft.com/office/drawing/2014/main" id="{5216E0BF-A284-78EF-BE1B-965151F25D6E}"/>
              </a:ext>
            </a:extLst>
          </p:cNvPr>
          <p:cNvSpPr txBox="1"/>
          <p:nvPr/>
        </p:nvSpPr>
        <p:spPr>
          <a:xfrm>
            <a:off x="6128354" y="3676209"/>
            <a:ext cx="143256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Jupyter Notebook</a:t>
            </a:r>
            <a:endParaRPr lang="en-GB" dirty="0"/>
          </a:p>
        </p:txBody>
      </p:sp>
      <p:cxnSp>
        <p:nvCxnSpPr>
          <p:cNvPr id="7" name="Straight Arrow Connector 6">
            <a:extLst>
              <a:ext uri="{FF2B5EF4-FFF2-40B4-BE49-F238E27FC236}">
                <a16:creationId xmlns:a16="http://schemas.microsoft.com/office/drawing/2014/main" id="{0BBD1F24-8034-F3D1-7F55-E4CA80843AB6}"/>
              </a:ext>
            </a:extLst>
          </p:cNvPr>
          <p:cNvCxnSpPr>
            <a:cxnSpLocks/>
            <a:stCxn id="2" idx="0"/>
            <a:endCxn id="9" idx="1"/>
          </p:cNvCxnSpPr>
          <p:nvPr/>
        </p:nvCxnSpPr>
        <p:spPr>
          <a:xfrm flipV="1">
            <a:off x="6844634" y="2311444"/>
            <a:ext cx="902292" cy="1364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B86DC35-3C6D-851D-32D0-D6869199C47F}"/>
              </a:ext>
            </a:extLst>
          </p:cNvPr>
          <p:cNvSpPr txBox="1"/>
          <p:nvPr/>
        </p:nvSpPr>
        <p:spPr>
          <a:xfrm>
            <a:off x="7746926" y="2126778"/>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SpaceX Api</a:t>
            </a:r>
            <a:endParaRPr lang="en-GB" dirty="0"/>
          </a:p>
        </p:txBody>
      </p:sp>
      <p:cxnSp>
        <p:nvCxnSpPr>
          <p:cNvPr id="12" name="Straight Arrow Connector 11">
            <a:extLst>
              <a:ext uri="{FF2B5EF4-FFF2-40B4-BE49-F238E27FC236}">
                <a16:creationId xmlns:a16="http://schemas.microsoft.com/office/drawing/2014/main" id="{E56FA3C4-12F7-745D-9904-BC49954C8202}"/>
              </a:ext>
            </a:extLst>
          </p:cNvPr>
          <p:cNvCxnSpPr>
            <a:cxnSpLocks/>
            <a:stCxn id="9" idx="3"/>
            <a:endCxn id="13" idx="0"/>
          </p:cNvCxnSpPr>
          <p:nvPr/>
        </p:nvCxnSpPr>
        <p:spPr>
          <a:xfrm>
            <a:off x="9179486" y="2311444"/>
            <a:ext cx="992382" cy="1022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D16E149-8A4E-DBFF-8C01-A38541190ED9}"/>
              </a:ext>
            </a:extLst>
          </p:cNvPr>
          <p:cNvSpPr txBox="1"/>
          <p:nvPr/>
        </p:nvSpPr>
        <p:spPr>
          <a:xfrm>
            <a:off x="9455588" y="3334147"/>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Get Request</a:t>
            </a:r>
            <a:endParaRPr lang="en-GB" dirty="0"/>
          </a:p>
        </p:txBody>
      </p:sp>
      <p:cxnSp>
        <p:nvCxnSpPr>
          <p:cNvPr id="15" name="Straight Arrow Connector 14">
            <a:extLst>
              <a:ext uri="{FF2B5EF4-FFF2-40B4-BE49-F238E27FC236}">
                <a16:creationId xmlns:a16="http://schemas.microsoft.com/office/drawing/2014/main" id="{E63B7F1D-3476-A77B-E8E9-E53B7F19F40D}"/>
              </a:ext>
            </a:extLst>
          </p:cNvPr>
          <p:cNvCxnSpPr>
            <a:cxnSpLocks/>
            <a:stCxn id="13" idx="2"/>
            <a:endCxn id="21" idx="0"/>
          </p:cNvCxnSpPr>
          <p:nvPr/>
        </p:nvCxnSpPr>
        <p:spPr>
          <a:xfrm>
            <a:off x="10171868" y="3703479"/>
            <a:ext cx="0" cy="662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AEC0A5C-1896-6C1B-572E-DC8404EC55A3}"/>
              </a:ext>
            </a:extLst>
          </p:cNvPr>
          <p:cNvSpPr txBox="1"/>
          <p:nvPr/>
        </p:nvSpPr>
        <p:spPr>
          <a:xfrm>
            <a:off x="9455588" y="4365877"/>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err="1"/>
              <a:t>Jsont</a:t>
            </a:r>
            <a:r>
              <a:rPr lang="en-US" dirty="0"/>
              <a:t> Data</a:t>
            </a:r>
            <a:endParaRPr lang="en-GB" dirty="0"/>
          </a:p>
        </p:txBody>
      </p:sp>
      <p:sp>
        <p:nvSpPr>
          <p:cNvPr id="22" name="TextBox 21">
            <a:extLst>
              <a:ext uri="{FF2B5EF4-FFF2-40B4-BE49-F238E27FC236}">
                <a16:creationId xmlns:a16="http://schemas.microsoft.com/office/drawing/2014/main" id="{44EE6A72-D41E-29EE-BC5B-C98BD45C1B2B}"/>
              </a:ext>
            </a:extLst>
          </p:cNvPr>
          <p:cNvSpPr txBox="1"/>
          <p:nvPr/>
        </p:nvSpPr>
        <p:spPr>
          <a:xfrm>
            <a:off x="7746926" y="5305584"/>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err="1"/>
              <a:t>DataFrame</a:t>
            </a:r>
            <a:endParaRPr lang="en-GB" dirty="0"/>
          </a:p>
        </p:txBody>
      </p:sp>
      <p:cxnSp>
        <p:nvCxnSpPr>
          <p:cNvPr id="23" name="Straight Arrow Connector 22">
            <a:extLst>
              <a:ext uri="{FF2B5EF4-FFF2-40B4-BE49-F238E27FC236}">
                <a16:creationId xmlns:a16="http://schemas.microsoft.com/office/drawing/2014/main" id="{4126F850-9148-00A9-AE4E-3600FFC7B965}"/>
              </a:ext>
            </a:extLst>
          </p:cNvPr>
          <p:cNvCxnSpPr>
            <a:cxnSpLocks/>
            <a:stCxn id="21" idx="2"/>
            <a:endCxn id="22" idx="3"/>
          </p:cNvCxnSpPr>
          <p:nvPr/>
        </p:nvCxnSpPr>
        <p:spPr>
          <a:xfrm flipH="1">
            <a:off x="9179486" y="4735209"/>
            <a:ext cx="992382" cy="755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E05E75B-57E9-63A2-1AEF-AE256E9C862C}"/>
              </a:ext>
            </a:extLst>
          </p:cNvPr>
          <p:cNvCxnSpPr>
            <a:cxnSpLocks/>
            <a:stCxn id="22" idx="1"/>
            <a:endCxn id="2" idx="2"/>
          </p:cNvCxnSpPr>
          <p:nvPr/>
        </p:nvCxnSpPr>
        <p:spPr>
          <a:xfrm flipH="1" flipV="1">
            <a:off x="6844634" y="4322540"/>
            <a:ext cx="902292" cy="1167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1" y="1792288"/>
            <a:ext cx="3932238" cy="3811587"/>
          </a:xfrm>
          <a:prstGeom prst="rect">
            <a:avLst/>
          </a:prstGeom>
        </p:spPr>
        <p:txBody>
          <a:bodyPr lIns="91440" tIns="45720" rIns="91440" bIns="45720" anchor="t">
            <a:noAutofit/>
          </a:bodyPr>
          <a:lstStyle/>
          <a:p>
            <a:pPr>
              <a:lnSpc>
                <a:spcPct val="100000"/>
              </a:lnSpc>
              <a:spcBef>
                <a:spcPts val="1400"/>
              </a:spcBef>
            </a:pPr>
            <a:r>
              <a:rPr lang="en-US" sz="2200" dirty="0">
                <a:solidFill>
                  <a:schemeClr val="accent3">
                    <a:lumMod val="25000"/>
                  </a:schemeClr>
                </a:solidFill>
                <a:latin typeface="Abadi"/>
              </a:rPr>
              <a:t>The webpage from Wikipedia was received by HTTP get request and </a:t>
            </a:r>
            <a:r>
              <a:rPr lang="en-US" sz="2200" dirty="0" err="1">
                <a:solidFill>
                  <a:schemeClr val="accent3">
                    <a:lumMod val="25000"/>
                  </a:schemeClr>
                </a:solidFill>
                <a:latin typeface="Abadi"/>
              </a:rPr>
              <a:t>BeatifulSoup</a:t>
            </a:r>
            <a:r>
              <a:rPr lang="en-US" sz="2200" dirty="0">
                <a:solidFill>
                  <a:schemeClr val="accent3">
                    <a:lumMod val="25000"/>
                  </a:schemeClr>
                </a:solidFill>
                <a:latin typeface="Abadi"/>
              </a:rPr>
              <a:t> was used to parse and populate pandas </a:t>
            </a:r>
            <a:r>
              <a:rPr lang="en-US" sz="2200" dirty="0" err="1">
                <a:solidFill>
                  <a:schemeClr val="accent3">
                    <a:lumMod val="25000"/>
                  </a:schemeClr>
                </a:solidFill>
                <a:latin typeface="Abadi"/>
              </a:rPr>
              <a:t>DataFrame</a:t>
            </a:r>
            <a:r>
              <a:rPr lang="en-US" sz="2200" dirty="0">
                <a:solidFill>
                  <a:schemeClr val="accent3">
                    <a:lumMod val="25000"/>
                  </a:schemeClr>
                </a:solidFill>
                <a:latin typeface="Abadi"/>
              </a:rPr>
              <a:t>.</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GitHub URL of the completed </a:t>
            </a:r>
            <a:r>
              <a:rPr lang="en-US" sz="2200" dirty="0">
                <a:solidFill>
                  <a:schemeClr val="accent3">
                    <a:lumMod val="25000"/>
                  </a:schemeClr>
                </a:solidFill>
                <a:latin typeface="Abadi" panose="020B0604020104020204" pitchFamily="34" charset="0"/>
                <a:hlinkClick r:id="rId3"/>
              </a:rPr>
              <a:t>web scraping notebook</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5" name="TextBox 4">
            <a:extLst>
              <a:ext uri="{FF2B5EF4-FFF2-40B4-BE49-F238E27FC236}">
                <a16:creationId xmlns:a16="http://schemas.microsoft.com/office/drawing/2014/main" id="{D8C3850C-0AA9-3D34-A4A8-E8712CF12D06}"/>
              </a:ext>
            </a:extLst>
          </p:cNvPr>
          <p:cNvSpPr txBox="1"/>
          <p:nvPr/>
        </p:nvSpPr>
        <p:spPr>
          <a:xfrm>
            <a:off x="5703287" y="2951928"/>
            <a:ext cx="143256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Jupyter Notebook</a:t>
            </a:r>
            <a:endParaRPr lang="en-GB" dirty="0"/>
          </a:p>
        </p:txBody>
      </p:sp>
      <p:cxnSp>
        <p:nvCxnSpPr>
          <p:cNvPr id="7" name="Straight Arrow Connector 6">
            <a:extLst>
              <a:ext uri="{FF2B5EF4-FFF2-40B4-BE49-F238E27FC236}">
                <a16:creationId xmlns:a16="http://schemas.microsoft.com/office/drawing/2014/main" id="{07215A1E-DC2D-4350-5335-E8B32EF75C36}"/>
              </a:ext>
            </a:extLst>
          </p:cNvPr>
          <p:cNvCxnSpPr>
            <a:cxnSpLocks/>
            <a:stCxn id="5" idx="0"/>
            <a:endCxn id="8" idx="1"/>
          </p:cNvCxnSpPr>
          <p:nvPr/>
        </p:nvCxnSpPr>
        <p:spPr>
          <a:xfrm flipV="1">
            <a:off x="6419567" y="2087163"/>
            <a:ext cx="917786" cy="864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FF20D75-C287-1FA4-7C9A-95129C7E9311}"/>
              </a:ext>
            </a:extLst>
          </p:cNvPr>
          <p:cNvSpPr txBox="1"/>
          <p:nvPr/>
        </p:nvSpPr>
        <p:spPr>
          <a:xfrm>
            <a:off x="7337353" y="1902497"/>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Get Request</a:t>
            </a:r>
            <a:endParaRPr lang="en-GB" dirty="0"/>
          </a:p>
        </p:txBody>
      </p:sp>
      <p:cxnSp>
        <p:nvCxnSpPr>
          <p:cNvPr id="9" name="Straight Arrow Connector 8">
            <a:extLst>
              <a:ext uri="{FF2B5EF4-FFF2-40B4-BE49-F238E27FC236}">
                <a16:creationId xmlns:a16="http://schemas.microsoft.com/office/drawing/2014/main" id="{E75F9CDC-2047-BB15-97B1-03676DBF4060}"/>
              </a:ext>
            </a:extLst>
          </p:cNvPr>
          <p:cNvCxnSpPr>
            <a:cxnSpLocks/>
            <a:stCxn id="8" idx="3"/>
            <a:endCxn id="10" idx="0"/>
          </p:cNvCxnSpPr>
          <p:nvPr/>
        </p:nvCxnSpPr>
        <p:spPr>
          <a:xfrm>
            <a:off x="8769913" y="2087163"/>
            <a:ext cx="928927" cy="867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CDE0DF0-02E0-131E-1272-1DCDC236C8FB}"/>
              </a:ext>
            </a:extLst>
          </p:cNvPr>
          <p:cNvSpPr txBox="1"/>
          <p:nvPr/>
        </p:nvSpPr>
        <p:spPr>
          <a:xfrm>
            <a:off x="8982560" y="2954496"/>
            <a:ext cx="143256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Wikipedia Webpage</a:t>
            </a:r>
            <a:endParaRPr lang="en-GB" dirty="0"/>
          </a:p>
        </p:txBody>
      </p:sp>
      <p:cxnSp>
        <p:nvCxnSpPr>
          <p:cNvPr id="12" name="Straight Arrow Connector 11">
            <a:extLst>
              <a:ext uri="{FF2B5EF4-FFF2-40B4-BE49-F238E27FC236}">
                <a16:creationId xmlns:a16="http://schemas.microsoft.com/office/drawing/2014/main" id="{15C5EFC4-8797-FFC7-0A2D-6864709D913D}"/>
              </a:ext>
            </a:extLst>
          </p:cNvPr>
          <p:cNvCxnSpPr>
            <a:cxnSpLocks/>
            <a:stCxn id="10" idx="2"/>
            <a:endCxn id="13" idx="0"/>
          </p:cNvCxnSpPr>
          <p:nvPr/>
        </p:nvCxnSpPr>
        <p:spPr>
          <a:xfrm>
            <a:off x="9698840" y="3600827"/>
            <a:ext cx="0" cy="385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94910C-5783-A5D9-2D52-0F932528B9E2}"/>
              </a:ext>
            </a:extLst>
          </p:cNvPr>
          <p:cNvSpPr txBox="1"/>
          <p:nvPr/>
        </p:nvSpPr>
        <p:spPr>
          <a:xfrm>
            <a:off x="8982560" y="3986226"/>
            <a:ext cx="143256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HTML Data as Text</a:t>
            </a:r>
            <a:endParaRPr lang="en-GB" dirty="0"/>
          </a:p>
        </p:txBody>
      </p:sp>
      <p:sp>
        <p:nvSpPr>
          <p:cNvPr id="14" name="TextBox 13">
            <a:extLst>
              <a:ext uri="{FF2B5EF4-FFF2-40B4-BE49-F238E27FC236}">
                <a16:creationId xmlns:a16="http://schemas.microsoft.com/office/drawing/2014/main" id="{CBEC3394-5571-30DB-0BE0-652DF7EF9BAA}"/>
              </a:ext>
            </a:extLst>
          </p:cNvPr>
          <p:cNvSpPr txBox="1"/>
          <p:nvPr/>
        </p:nvSpPr>
        <p:spPr>
          <a:xfrm>
            <a:off x="7337353" y="5379242"/>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err="1"/>
              <a:t>BeatifulSoup</a:t>
            </a:r>
            <a:endParaRPr lang="en-GB" dirty="0"/>
          </a:p>
        </p:txBody>
      </p:sp>
      <p:cxnSp>
        <p:nvCxnSpPr>
          <p:cNvPr id="15" name="Straight Arrow Connector 14">
            <a:extLst>
              <a:ext uri="{FF2B5EF4-FFF2-40B4-BE49-F238E27FC236}">
                <a16:creationId xmlns:a16="http://schemas.microsoft.com/office/drawing/2014/main" id="{9E5D8FED-299C-BA59-9D17-BF1FEB9ECDF9}"/>
              </a:ext>
            </a:extLst>
          </p:cNvPr>
          <p:cNvCxnSpPr>
            <a:cxnSpLocks/>
            <a:stCxn id="13" idx="2"/>
            <a:endCxn id="14" idx="3"/>
          </p:cNvCxnSpPr>
          <p:nvPr/>
        </p:nvCxnSpPr>
        <p:spPr>
          <a:xfrm flipH="1">
            <a:off x="8769913" y="4632557"/>
            <a:ext cx="928927" cy="931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AF689B1-BE47-6E56-D378-6CCB2EA4ECF0}"/>
              </a:ext>
            </a:extLst>
          </p:cNvPr>
          <p:cNvCxnSpPr>
            <a:cxnSpLocks/>
            <a:stCxn id="14" idx="1"/>
            <a:endCxn id="17" idx="2"/>
          </p:cNvCxnSpPr>
          <p:nvPr/>
        </p:nvCxnSpPr>
        <p:spPr>
          <a:xfrm flipH="1" flipV="1">
            <a:off x="6419567" y="4575445"/>
            <a:ext cx="917786" cy="988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CB77C2F-4EF2-D058-72C5-7EC5182156CE}"/>
              </a:ext>
            </a:extLst>
          </p:cNvPr>
          <p:cNvSpPr txBox="1"/>
          <p:nvPr/>
        </p:nvSpPr>
        <p:spPr>
          <a:xfrm>
            <a:off x="5703287" y="4206113"/>
            <a:ext cx="143256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err="1"/>
              <a:t>DataFrame</a:t>
            </a:r>
            <a:endParaRPr lang="en-US" dirty="0"/>
          </a:p>
        </p:txBody>
      </p:sp>
      <p:cxnSp>
        <p:nvCxnSpPr>
          <p:cNvPr id="19" name="Straight Arrow Connector 18">
            <a:extLst>
              <a:ext uri="{FF2B5EF4-FFF2-40B4-BE49-F238E27FC236}">
                <a16:creationId xmlns:a16="http://schemas.microsoft.com/office/drawing/2014/main" id="{965DD78C-BBA1-CDB1-90DB-FE04017CFF8F}"/>
              </a:ext>
            </a:extLst>
          </p:cNvPr>
          <p:cNvCxnSpPr>
            <a:cxnSpLocks/>
            <a:stCxn id="17" idx="0"/>
            <a:endCxn id="5" idx="2"/>
          </p:cNvCxnSpPr>
          <p:nvPr/>
        </p:nvCxnSpPr>
        <p:spPr>
          <a:xfrm flipV="1">
            <a:off x="6419567" y="3598259"/>
            <a:ext cx="0" cy="607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8975652" cy="4351338"/>
          </a:xfrm>
          <a:prstGeom prst="rect">
            <a:avLst/>
          </a:prstGeom>
        </p:spPr>
        <p:txBody>
          <a:bodyPr/>
          <a:lstStyle/>
          <a:p>
            <a:r>
              <a:rPr lang="en-US" sz="2200" dirty="0">
                <a:solidFill>
                  <a:schemeClr val="accent3">
                    <a:lumMod val="25000"/>
                  </a:schemeClr>
                </a:solidFill>
                <a:latin typeface="Abadi" panose="020B0604020104020204" pitchFamily="34" charset="0"/>
              </a:rPr>
              <a:t>After data was loaded as </a:t>
            </a:r>
            <a:r>
              <a:rPr lang="en-US" sz="2200" dirty="0" err="1">
                <a:solidFill>
                  <a:schemeClr val="accent3">
                    <a:lumMod val="25000"/>
                  </a:schemeClr>
                </a:solidFill>
                <a:latin typeface="Abadi" panose="020B0604020104020204" pitchFamily="34" charset="0"/>
              </a:rPr>
              <a:t>DataFrame</a:t>
            </a:r>
            <a:r>
              <a:rPr lang="en-US" sz="2200" dirty="0">
                <a:solidFill>
                  <a:schemeClr val="accent3">
                    <a:lumMod val="25000"/>
                  </a:schemeClr>
                </a:solidFill>
                <a:latin typeface="Abadi" panose="020B0604020104020204" pitchFamily="34" charset="0"/>
              </a:rPr>
              <a:t> in Jupyter Notebook, following steps are used for data wrangling:</a:t>
            </a:r>
          </a:p>
          <a:p>
            <a:pPr lvl="4">
              <a:buFont typeface="Wingdings" panose="05000000000000000000" pitchFamily="2" charset="2"/>
              <a:buChar char="ü"/>
            </a:pPr>
            <a:r>
              <a:rPr lang="en-US" dirty="0">
                <a:solidFill>
                  <a:schemeClr val="accent3">
                    <a:lumMod val="25000"/>
                  </a:schemeClr>
                </a:solidFill>
                <a:latin typeface="Abadi" panose="020B0604020104020204" pitchFamily="34" charset="0"/>
              </a:rPr>
              <a:t>Identifying missing data. Remove or add data appropriately for missing data.</a:t>
            </a:r>
          </a:p>
          <a:p>
            <a:pPr lvl="4">
              <a:buFont typeface="Wingdings" panose="05000000000000000000" pitchFamily="2" charset="2"/>
              <a:buChar char="ü"/>
            </a:pPr>
            <a:r>
              <a:rPr lang="en-US" dirty="0">
                <a:solidFill>
                  <a:schemeClr val="accent3">
                    <a:lumMod val="25000"/>
                  </a:schemeClr>
                </a:solidFill>
                <a:latin typeface="Abadi" panose="020B0604020104020204" pitchFamily="34" charset="0"/>
              </a:rPr>
              <a:t>Identifying numerical and categorical data</a:t>
            </a:r>
          </a:p>
          <a:p>
            <a:pPr lvl="4">
              <a:buFont typeface="Wingdings" panose="05000000000000000000" pitchFamily="2" charset="2"/>
              <a:buChar char="ü"/>
            </a:pPr>
            <a:r>
              <a:rPr lang="en-US" dirty="0">
                <a:solidFill>
                  <a:schemeClr val="accent3">
                    <a:lumMod val="25000"/>
                  </a:schemeClr>
                </a:solidFill>
                <a:latin typeface="Abadi" panose="020B0604020104020204" pitchFamily="34" charset="0"/>
              </a:rPr>
              <a:t>Transforming categorical data to numerical data as required</a:t>
            </a:r>
          </a:p>
          <a:p>
            <a:pPr lvl="4">
              <a:buFont typeface="Wingdings" panose="05000000000000000000" pitchFamily="2" charset="2"/>
              <a:buChar char="ü"/>
            </a:pPr>
            <a:r>
              <a:rPr lang="en-US" dirty="0">
                <a:solidFill>
                  <a:schemeClr val="accent3">
                    <a:lumMod val="25000"/>
                  </a:schemeClr>
                </a:solidFill>
                <a:latin typeface="Abadi" panose="020B0604020104020204" pitchFamily="34" charset="0"/>
              </a:rPr>
              <a:t>Calculate various statistical parameters and gather insights.</a:t>
            </a:r>
          </a:p>
          <a:p>
            <a:endParaRPr lang="en-US" sz="2200" dirty="0">
              <a:solidFill>
                <a:schemeClr val="accent3">
                  <a:lumMod val="25000"/>
                </a:schemeClr>
              </a:solidFill>
              <a:latin typeface="Abadi" panose="020B0604020104020204" pitchFamily="34" charset="0"/>
            </a:endParaRPr>
          </a:p>
          <a:p>
            <a:r>
              <a:rPr lang="en-US" sz="2200" dirty="0">
                <a:solidFill>
                  <a:schemeClr val="accent3">
                    <a:lumMod val="25000"/>
                  </a:schemeClr>
                </a:solidFill>
                <a:latin typeface="Abadi" panose="020B0604020104020204" pitchFamily="34" charset="0"/>
                <a:hlinkClick r:id="rId3"/>
              </a:rPr>
              <a:t>Completed data wrangling notebook</a:t>
            </a:r>
            <a:endParaRPr lang="en-US" dirty="0"/>
          </a:p>
          <a:p>
            <a:endParaRPr lang="en-US" dirty="0"/>
          </a:p>
          <a:p>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Summarize what charts were plotted and why you used those charts</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EDA with data visualization</a:t>
            </a:r>
            <a:endParaRPr lang="en-US" dirty="0"/>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0657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Using bullet point format, summarize the SQL queries you performed</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EDA with SQL</a:t>
            </a:r>
            <a:endParaRPr lang="en-US" sz="2200" dirty="0">
              <a:solidFill>
                <a:schemeClr val="accent3">
                  <a:lumMod val="25000"/>
                </a:schemeClr>
              </a:solidFill>
              <a:latin typeface="Abadi" panose="020B0604020104020204" pitchFamily="34" charset="0"/>
            </a:endParaRPr>
          </a:p>
          <a:p>
            <a:endParaRPr lang="en-US" dirty="0"/>
          </a:p>
          <a:p>
            <a:endParaRPr lang="en-US" dirty="0"/>
          </a:p>
          <a:p>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Summarize what map objects such as markers, circles, lines, etc. you created and added to a folium map</a:t>
            </a:r>
          </a:p>
          <a:p>
            <a:pPr>
              <a:lnSpc>
                <a:spcPct val="100000"/>
              </a:lnSpc>
              <a:spcBef>
                <a:spcPts val="1400"/>
              </a:spcBef>
            </a:pPr>
            <a:r>
              <a:rPr lang="en-US" sz="2200" dirty="0">
                <a:solidFill>
                  <a:schemeClr val="accent3">
                    <a:lumMod val="25000"/>
                  </a:schemeClr>
                </a:solidFill>
                <a:latin typeface="Abadi" panose="020B0604020104020204" pitchFamily="34" charset="0"/>
              </a:rPr>
              <a:t>Explain why you added those objects</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interactive map with Folium map</a:t>
            </a:r>
            <a:endParaRPr lang="en-US" dirty="0"/>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Summarize what plots/graphs and interactions you have added to a dashboard</a:t>
            </a:r>
          </a:p>
          <a:p>
            <a:pPr>
              <a:lnSpc>
                <a:spcPct val="100000"/>
              </a:lnSpc>
              <a:spcBef>
                <a:spcPts val="1400"/>
              </a:spcBef>
            </a:pPr>
            <a:r>
              <a:rPr lang="en-US" sz="2200" dirty="0">
                <a:solidFill>
                  <a:schemeClr val="accent3">
                    <a:lumMod val="25000"/>
                  </a:schemeClr>
                </a:solidFill>
                <a:latin typeface="Abadi" panose="020B0604020104020204" pitchFamily="34" charset="0"/>
              </a:rPr>
              <a:t>Explain why you added those plots and interactions</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completed Plotly Dash lab</a:t>
            </a:r>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Summarize how you built, evaluated, improved, and found the best performing classification model</a:t>
            </a:r>
          </a:p>
          <a:p>
            <a:pPr>
              <a:lnSpc>
                <a:spcPct val="100000"/>
              </a:lnSpc>
              <a:spcBef>
                <a:spcPts val="1400"/>
              </a:spcBef>
            </a:pPr>
            <a:r>
              <a:rPr lang="en-US" sz="2200" dirty="0">
                <a:solidFill>
                  <a:schemeClr val="accent3">
                    <a:lumMod val="25000"/>
                  </a:schemeClr>
                </a:solidFill>
                <a:latin typeface="Abadi" panose="020B0604020104020204" pitchFamily="34" charset="0"/>
              </a:rPr>
              <a:t>You need present your model development process using key phrases and flowchart</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completed predictive analysis lab</a:t>
            </a:r>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1621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a:solidFill>
                  <a:schemeClr val="accent3">
                    <a:lumMod val="25000"/>
                  </a:schemeClr>
                </a:solidFill>
                <a:latin typeface="Abadi" panose="020B0604020104020204" pitchFamily="34" charset="0"/>
              </a:rPr>
              <a:t>Predictive analysis results</a:t>
            </a:r>
          </a:p>
          <a:p>
            <a:pPr lvl="1"/>
            <a:endParaRPr lang="en-US" sz="1800"/>
          </a:p>
          <a:p>
            <a:pPr marL="457200" lvl="1" indent="0">
              <a:buNone/>
            </a:pPr>
            <a:endParaRPr lang="en-US" sz="180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2" y="3698240"/>
            <a:ext cx="10798707" cy="217074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Flight Number has no clear relation with success rate. However, flights after number 80 show 100% success.</a:t>
            </a:r>
          </a:p>
          <a:p>
            <a:pPr>
              <a:lnSpc>
                <a:spcPct val="100000"/>
              </a:lnSpc>
              <a:spcBef>
                <a:spcPts val="1400"/>
              </a:spcBef>
            </a:pPr>
            <a:r>
              <a:rPr lang="en-US" sz="2200" dirty="0">
                <a:solidFill>
                  <a:schemeClr val="accent3">
                    <a:lumMod val="25000"/>
                  </a:schemeClr>
                </a:solidFill>
                <a:latin typeface="Abadi" panose="020B0604020104020204" pitchFamily="34" charset="0"/>
              </a:rPr>
              <a:t>Flight number has no relation with Launch Site.</a:t>
            </a:r>
          </a:p>
          <a:p>
            <a:pPr>
              <a:lnSpc>
                <a:spcPct val="100000"/>
              </a:lnSpc>
              <a:spcBef>
                <a:spcPts val="1400"/>
              </a:spcBef>
            </a:pPr>
            <a:r>
              <a:rPr lang="en-US" sz="2200" dirty="0">
                <a:solidFill>
                  <a:schemeClr val="accent3">
                    <a:lumMod val="25000"/>
                  </a:schemeClr>
                </a:solidFill>
                <a:latin typeface="Abadi" panose="020B0604020104020204" pitchFamily="34" charset="0"/>
              </a:rPr>
              <a:t>However, total flights in site CCAFS SLC 40 is larger than other two sites.</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Picture 5">
            <a:extLst>
              <a:ext uri="{FF2B5EF4-FFF2-40B4-BE49-F238E27FC236}">
                <a16:creationId xmlns:a16="http://schemas.microsoft.com/office/drawing/2014/main" id="{BA78D675-43BC-250F-3573-72B290555048}"/>
              </a:ext>
            </a:extLst>
          </p:cNvPr>
          <p:cNvPicPr>
            <a:picLocks noChangeAspect="1"/>
          </p:cNvPicPr>
          <p:nvPr/>
        </p:nvPicPr>
        <p:blipFill>
          <a:blip r:embed="rId3"/>
          <a:stretch>
            <a:fillRect/>
          </a:stretch>
        </p:blipFill>
        <p:spPr>
          <a:xfrm>
            <a:off x="325120" y="1340418"/>
            <a:ext cx="11551920" cy="2263582"/>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1647482"/>
            <a:ext cx="3751189" cy="3811588"/>
          </a:xfrm>
          <a:prstGeom prst="rect">
            <a:avLst/>
          </a:prstGeom>
        </p:spPr>
        <p:txBody>
          <a:bodyPr>
            <a:normAutofit/>
          </a:bodyPr>
          <a:lstStyle/>
          <a:p>
            <a:pPr marL="0" indent="0">
              <a:buNone/>
            </a:pPr>
            <a:r>
              <a:rPr lang="en-US" sz="2400" dirty="0"/>
              <a:t>No clear relationship between payload and launch success rate for all sites.</a:t>
            </a: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a:rPr>
              <a:t>Payload vs. Launch Site</a:t>
            </a:r>
            <a:endParaRPr lang="en-US" dirty="0">
              <a:solidFill>
                <a:srgbClr val="0B49CB"/>
              </a:solidFill>
              <a:latin typeface="Abadi"/>
            </a:endParaRPr>
          </a:p>
        </p:txBody>
      </p:sp>
      <p:pic>
        <p:nvPicPr>
          <p:cNvPr id="6" name="Picture 5">
            <a:extLst>
              <a:ext uri="{FF2B5EF4-FFF2-40B4-BE49-F238E27FC236}">
                <a16:creationId xmlns:a16="http://schemas.microsoft.com/office/drawing/2014/main" id="{329EF611-639D-ADCB-A482-A999F3542543}"/>
              </a:ext>
            </a:extLst>
          </p:cNvPr>
          <p:cNvPicPr>
            <a:picLocks noChangeAspect="1"/>
          </p:cNvPicPr>
          <p:nvPr/>
        </p:nvPicPr>
        <p:blipFill>
          <a:blip r:embed="rId3"/>
          <a:stretch>
            <a:fillRect/>
          </a:stretch>
        </p:blipFill>
        <p:spPr>
          <a:xfrm>
            <a:off x="4521200" y="1640205"/>
            <a:ext cx="7305039" cy="3429635"/>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82114"/>
            <a:ext cx="3932238" cy="3811588"/>
          </a:xfrm>
          <a:prstGeom prst="rect">
            <a:avLst/>
          </a:prstGeom>
        </p:spPr>
        <p:txBody>
          <a:bodyPr>
            <a:normAutofit/>
          </a:bodyPr>
          <a:lstStyle/>
          <a:p>
            <a:pPr>
              <a:lnSpc>
                <a:spcPct val="100000"/>
              </a:lnSpc>
              <a:spcBef>
                <a:spcPts val="1400"/>
              </a:spcBef>
            </a:pPr>
            <a:r>
              <a:rPr lang="en-CA" sz="2200" dirty="0">
                <a:solidFill>
                  <a:schemeClr val="accent3">
                    <a:lumMod val="25000"/>
                  </a:schemeClr>
                </a:solidFill>
                <a:latin typeface="Abadi" panose="020B0604020104020204" pitchFamily="34" charset="0"/>
              </a:rPr>
              <a:t>Show a </a:t>
            </a:r>
            <a:r>
              <a:rPr lang="en-US" sz="2200" dirty="0">
                <a:solidFill>
                  <a:schemeClr val="accent3">
                    <a:lumMod val="25000"/>
                  </a:schemeClr>
                </a:solidFill>
                <a:latin typeface="Abadi" panose="020B0604020104020204" pitchFamily="34" charset="0"/>
              </a:rPr>
              <a:t>bar chart for the success rate of each orbit type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a:extLst>
              <a:ext uri="{FF2B5EF4-FFF2-40B4-BE49-F238E27FC236}">
                <a16:creationId xmlns:a16="http://schemas.microsoft.com/office/drawing/2014/main" id="{F1055990-C6FB-3FCB-479A-59148BC42EB6}"/>
              </a:ext>
            </a:extLst>
          </p:cNvPr>
          <p:cNvPicPr>
            <a:picLocks noChangeAspect="1"/>
          </p:cNvPicPr>
          <p:nvPr/>
        </p:nvPicPr>
        <p:blipFill>
          <a:blip r:embed="rId3"/>
          <a:stretch>
            <a:fillRect/>
          </a:stretch>
        </p:blipFill>
        <p:spPr>
          <a:xfrm>
            <a:off x="5887964" y="1645552"/>
            <a:ext cx="5534025" cy="4248150"/>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6"/>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scatter point of Flight number vs. Orbit type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spTree>
    <p:extLst>
      <p:ext uri="{BB962C8B-B14F-4D97-AF65-F5344CB8AC3E}">
        <p14:creationId xmlns:p14="http://schemas.microsoft.com/office/powerpoint/2010/main" val="110672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57400"/>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scatter point of payload vs. orbit type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spTree>
    <p:extLst>
      <p:ext uri="{BB962C8B-B14F-4D97-AF65-F5344CB8AC3E}">
        <p14:creationId xmlns:p14="http://schemas.microsoft.com/office/powerpoint/2010/main" val="3145340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line chart of yearly average success rate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spTree>
    <p:extLst>
      <p:ext uri="{BB962C8B-B14F-4D97-AF65-F5344CB8AC3E}">
        <p14:creationId xmlns:p14="http://schemas.microsoft.com/office/powerpoint/2010/main" val="706594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the names of the unique launch sites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Tree>
    <p:extLst>
      <p:ext uri="{BB962C8B-B14F-4D97-AF65-F5344CB8AC3E}">
        <p14:creationId xmlns:p14="http://schemas.microsoft.com/office/powerpoint/2010/main" val="2727850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5 records where launch sites begin with `CCA`</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Tree>
    <p:extLst>
      <p:ext uri="{BB962C8B-B14F-4D97-AF65-F5344CB8AC3E}">
        <p14:creationId xmlns:p14="http://schemas.microsoft.com/office/powerpoint/2010/main" val="17947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total payload carried by boosters from NASA</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Tree>
    <p:extLst>
      <p:ext uri="{BB962C8B-B14F-4D97-AF65-F5344CB8AC3E}">
        <p14:creationId xmlns:p14="http://schemas.microsoft.com/office/powerpoint/2010/main" val="401001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average payload mass carried by booster version F9 v1.1</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Tree>
    <p:extLst>
      <p:ext uri="{BB962C8B-B14F-4D97-AF65-F5344CB8AC3E}">
        <p14:creationId xmlns:p14="http://schemas.microsoft.com/office/powerpoint/2010/main" val="2735560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Find the dates of the first successful landing outcome on ground pad</a:t>
            </a: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Tree>
    <p:extLst>
      <p:ext uri="{BB962C8B-B14F-4D97-AF65-F5344CB8AC3E}">
        <p14:creationId xmlns:p14="http://schemas.microsoft.com/office/powerpoint/2010/main" val="1434679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a:rPr>
              <a:t>List the names of boosters which have successfully landed on drone ship and had payload mass greater than 4000 but less than 6000</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Tree>
    <p:extLst>
      <p:ext uri="{BB962C8B-B14F-4D97-AF65-F5344CB8AC3E}">
        <p14:creationId xmlns:p14="http://schemas.microsoft.com/office/powerpoint/2010/main" val="6393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total number of successful and failure mission outcomes</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Tree>
    <p:extLst>
      <p:ext uri="{BB962C8B-B14F-4D97-AF65-F5344CB8AC3E}">
        <p14:creationId xmlns:p14="http://schemas.microsoft.com/office/powerpoint/2010/main" val="1756972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List the names of the booster which have carried the maximum payload mass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Tree>
    <p:extLst>
      <p:ext uri="{BB962C8B-B14F-4D97-AF65-F5344CB8AC3E}">
        <p14:creationId xmlns:p14="http://schemas.microsoft.com/office/powerpoint/2010/main" val="356664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failed </a:t>
            </a:r>
            <a:r>
              <a:rPr lang="en-US" sz="2200" dirty="0" err="1">
                <a:solidFill>
                  <a:schemeClr val="accent3">
                    <a:lumMod val="25000"/>
                  </a:schemeClr>
                </a:solidFill>
                <a:latin typeface="Abadi"/>
              </a:rPr>
              <a:t>landing_outcomes</a:t>
            </a:r>
            <a:r>
              <a:rPr lang="en-US" sz="2200" dirty="0">
                <a:solidFill>
                  <a:schemeClr val="accent3">
                    <a:lumMod val="25000"/>
                  </a:schemeClr>
                </a:solidFill>
                <a:latin typeface="Abadi"/>
              </a:rPr>
              <a:t> in drone ship, their booster versions, and launch site names for in year 2015</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Present your query result with a short explanation here</a:t>
            </a: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Tree>
    <p:extLst>
      <p:ext uri="{BB962C8B-B14F-4D97-AF65-F5344CB8AC3E}">
        <p14:creationId xmlns:p14="http://schemas.microsoft.com/office/powerpoint/2010/main" val="139843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Rank the count of landing outcomes (such as Failure (drone ship) or Success (ground pad)) between the date 2010-06-04 and 2017-03-20, in descending order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Tree>
    <p:extLst>
      <p:ext uri="{BB962C8B-B14F-4D97-AF65-F5344CB8AC3E}">
        <p14:creationId xmlns:p14="http://schemas.microsoft.com/office/powerpoint/2010/main" val="3975168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35</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1&gt;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Explore the generated folium map and make a proper screenshot to include all launch sites’ location markers on a global map</a:t>
            </a:r>
            <a:endParaRPr lang="en-US" dirty="0">
              <a:solidFill>
                <a:schemeClr val="accent3">
                  <a:lumMod val="25000"/>
                </a:schemeClr>
              </a:solidFill>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p>
          <a:p>
            <a:endParaRPr lang="en-US"/>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1&gt;</a:t>
            </a:r>
          </a:p>
        </p:txBody>
      </p:sp>
    </p:spTree>
    <p:extLst>
      <p:ext uri="{BB962C8B-B14F-4D97-AF65-F5344CB8AC3E}">
        <p14:creationId xmlns:p14="http://schemas.microsoft.com/office/powerpoint/2010/main" val="981671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2&gt;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ea typeface="+mn-lt"/>
                <a:cs typeface="+mn-lt"/>
              </a:rPr>
              <a:t>Explore the folium</a:t>
            </a:r>
            <a:r>
              <a:rPr lang="en-US" sz="2200" dirty="0">
                <a:solidFill>
                  <a:schemeClr val="accent3">
                    <a:lumMod val="25000"/>
                  </a:schemeClr>
                </a:solidFill>
                <a:latin typeface="Abadi"/>
              </a:rPr>
              <a:t> map and make a proper screenshot to show the color-labeled launch outcomes on the map</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spcBef>
                <a:spcPts val="1400"/>
              </a:spcBef>
            </a:pPr>
            <a:endParaRPr lang="en-US">
              <a:solidFill>
                <a:schemeClr val="accent3">
                  <a:lumMod val="25000"/>
                </a:schemeClr>
              </a:solidFill>
            </a:endParaRP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2&gt;</a:t>
            </a:r>
          </a:p>
        </p:txBody>
      </p:sp>
    </p:spTree>
    <p:extLst>
      <p:ext uri="{BB962C8B-B14F-4D97-AF65-F5344CB8AC3E}">
        <p14:creationId xmlns:p14="http://schemas.microsoft.com/office/powerpoint/2010/main" val="23959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690688"/>
            <a:ext cx="8597827" cy="4314825"/>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3&gt;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Explore the generated folium map and show the screenshot of a selected launch site to its proximities such as railway, highway, coastline, with distance calculated and displayed</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lnSpc>
                <a:spcPct val="100000"/>
              </a:lnSpc>
              <a:spcBef>
                <a:spcPts val="1400"/>
              </a:spcBef>
            </a:pPr>
            <a:endParaRPr lang="en-US" sz="220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3&gt;</a:t>
            </a:r>
          </a:p>
        </p:txBody>
      </p:sp>
    </p:spTree>
    <p:extLst>
      <p:ext uri="{BB962C8B-B14F-4D97-AF65-F5344CB8AC3E}">
        <p14:creationId xmlns:p14="http://schemas.microsoft.com/office/powerpoint/2010/main" val="23249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&lt;Dashboard screenshot 1&gt; title with an appropriate title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Show the screenshot of launch success count for all sites, in a </a:t>
            </a:r>
            <a:r>
              <a:rPr lang="en-US" sz="2200" dirty="0" err="1">
                <a:solidFill>
                  <a:schemeClr val="accent3">
                    <a:lumMod val="25000"/>
                  </a:schemeClr>
                </a:solidFill>
                <a:latin typeface="Abadi"/>
              </a:rPr>
              <a:t>piechart</a:t>
            </a: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lnSpc>
                <a:spcPct val="100000"/>
              </a:lnSpc>
              <a:spcBef>
                <a:spcPts val="1400"/>
              </a:spcBef>
            </a:pPr>
            <a:endParaRPr lang="en-US" sz="220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1&gt;</a:t>
            </a:r>
          </a:p>
        </p:txBody>
      </p:sp>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825625"/>
            <a:ext cx="10551583"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&lt;Dashboard screenshot 2&gt;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Show the screenshot of the </a:t>
            </a:r>
            <a:r>
              <a:rPr lang="en-US" sz="2200" dirty="0" err="1">
                <a:solidFill>
                  <a:schemeClr val="accent3">
                    <a:lumMod val="25000"/>
                  </a:schemeClr>
                </a:solidFill>
                <a:latin typeface="Abadi"/>
              </a:rPr>
              <a:t>piechart</a:t>
            </a:r>
            <a:r>
              <a:rPr lang="en-US" sz="2200" dirty="0">
                <a:solidFill>
                  <a:schemeClr val="accent3">
                    <a:lumMod val="25000"/>
                  </a:schemeClr>
                </a:solidFill>
                <a:latin typeface="Abadi"/>
              </a:rPr>
              <a:t> for the launch site with highest launch success ratio</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endParaRPr lang="en-US"/>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2&gt;</a:t>
            </a:r>
          </a:p>
        </p:txBody>
      </p:sp>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825625"/>
            <a:ext cx="10414662"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Replace &lt;Dashboard screenshot 3&gt;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a:solidFill>
                  <a:schemeClr val="accent3">
                    <a:lumMod val="25000"/>
                  </a:schemeClr>
                </a:solidFill>
                <a:latin typeface="Abadi" panose="020B0604020104020204" pitchFamily="34" charset="0"/>
              </a:rPr>
              <a:t>Show screenshots of Payload vs. Launch Outcome scatter plot for all sites, with different payload selected in the range slider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a:solidFill>
                  <a:schemeClr val="accent3">
                    <a:lumMod val="25000"/>
                  </a:schemeClr>
                </a:solidFill>
                <a:latin typeface="Abadi"/>
              </a:rPr>
              <a:t>Explain the important elements and findings on the screenshot, such as which payload range or booster version have the largest success rate, etc.</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a:solidFill>
                <a:schemeClr val="accent3">
                  <a:lumMod val="25000"/>
                </a:schemeClr>
              </a:solidFill>
              <a:latin typeface="Abadi" panose="020B0604020104020204" pitchFamily="34" charset="0"/>
            </a:endParaRP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3&gt;</a:t>
            </a:r>
          </a:p>
        </p:txBody>
      </p:sp>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5325989" cy="381158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a:rPr>
              <a:t>Visualize the built model accuracy for all </a:t>
            </a:r>
            <a:r>
              <a:rPr lang="en-US" sz="2200">
                <a:solidFill>
                  <a:schemeClr val="accent3">
                    <a:lumMod val="25000"/>
                  </a:schemeClr>
                </a:solidFill>
                <a:latin typeface="Abadi"/>
              </a:rPr>
              <a:t>built classification models, in a bar chart</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Find which model has the highest classification accuracy</a:t>
            </a: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2057400"/>
            <a:ext cx="9477960"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the confusion matrix of the best performing model with an explanation </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5903913"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Point 1</a:t>
            </a:r>
          </a:p>
          <a:p>
            <a:pPr>
              <a:lnSpc>
                <a:spcPct val="100000"/>
              </a:lnSpc>
              <a:spcBef>
                <a:spcPts val="1400"/>
              </a:spcBef>
            </a:pPr>
            <a:r>
              <a:rPr lang="en-US" sz="2200">
                <a:solidFill>
                  <a:schemeClr val="accent3">
                    <a:lumMod val="25000"/>
                  </a:schemeClr>
                </a:solidFill>
                <a:latin typeface="Abadi" panose="020B0604020104020204" pitchFamily="34" charset="0"/>
              </a:rPr>
              <a:t>Point 2</a:t>
            </a:r>
          </a:p>
          <a:p>
            <a:pPr>
              <a:lnSpc>
                <a:spcPct val="100000"/>
              </a:lnSpc>
              <a:spcBef>
                <a:spcPts val="1400"/>
              </a:spcBef>
            </a:pPr>
            <a:r>
              <a:rPr lang="en-US" sz="2200">
                <a:solidFill>
                  <a:schemeClr val="accent3">
                    <a:lumMod val="25000"/>
                  </a:schemeClr>
                </a:solidFill>
                <a:latin typeface="Abadi" panose="020B0604020104020204" pitchFamily="34" charset="0"/>
              </a:rPr>
              <a:t>Point 3</a:t>
            </a:r>
          </a:p>
          <a:p>
            <a:pPr>
              <a:lnSpc>
                <a:spcPct val="100000"/>
              </a:lnSpc>
              <a:spcBef>
                <a:spcPts val="1400"/>
              </a:spcBef>
            </a:pPr>
            <a:r>
              <a:rPr lang="en-US" sz="2200">
                <a:solidFill>
                  <a:schemeClr val="accent3">
                    <a:lumMod val="25000"/>
                  </a:schemeClr>
                </a:solidFill>
                <a:latin typeface="Abadi" panose="020B0604020104020204" pitchFamily="34" charset="0"/>
              </a:rPr>
              <a:t>Point 4</a:t>
            </a:r>
          </a:p>
          <a:p>
            <a:pPr>
              <a:lnSpc>
                <a:spcPct val="100000"/>
              </a:lnSpc>
              <a:spcBef>
                <a:spcPts val="1400"/>
              </a:spcBef>
            </a:pPr>
            <a:r>
              <a:rPr lang="en-US" sz="2200">
                <a:solidFill>
                  <a:schemeClr val="accent3">
                    <a:lumMod val="25000"/>
                  </a:schemeClr>
                </a:solidFill>
                <a:latin typeface="Abadi" panose="020B0604020104020204" pitchFamily="34" charset="0"/>
              </a:rPr>
              <a:t>…</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Include any relevant assets like Python code snippets, SQL queries, charts, Notebook outputs, or data sets that you may have created during this project</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794</TotalTime>
  <Words>1581</Words>
  <Application>Microsoft Office PowerPoint</Application>
  <PresentationFormat>Widescreen</PresentationFormat>
  <Paragraphs>248</Paragraphs>
  <Slides>47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Abadi</vt:lpstr>
      <vt:lpstr>Arial</vt:lpstr>
      <vt:lpstr>Calibri</vt:lpstr>
      <vt:lpstr>IBM Plex Mono SemiBold</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Sarat Maharjan</cp:lastModifiedBy>
  <cp:revision>233</cp:revision>
  <dcterms:created xsi:type="dcterms:W3CDTF">2021-04-29T18:58:34Z</dcterms:created>
  <dcterms:modified xsi:type="dcterms:W3CDTF">2026-06-15T16:17:20Z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